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57" r:id="rId6"/>
    <p:sldId id="271" r:id="rId7"/>
    <p:sldId id="272" r:id="rId8"/>
    <p:sldId id="277" r:id="rId9"/>
    <p:sldId id="273" r:id="rId10"/>
    <p:sldId id="274" r:id="rId11"/>
    <p:sldId id="275" r:id="rId12"/>
    <p:sldId id="276" r:id="rId13"/>
    <p:sldId id="278" r:id="rId14"/>
    <p:sldId id="268" r:id="rId15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22CFCE-8241-4313-B433-79CBC457C986}" v="20" dt="2026-04-30T06:10:52.957"/>
    <p1510:client id="{E7E14B13-F7C0-472D-B450-D40C65D4FA14}" v="57" dt="2026-04-30T06:08:14.0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1426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511008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anchor="t">
            <a:noAutofit/>
          </a:bodyPr>
          <a:lstStyle/>
          <a:p>
            <a:pPr algn="ctr">
              <a:spcBef>
                <a:spcPts val="400"/>
              </a:spcBef>
            </a:pPr>
            <a:endParaRPr lang="en-IN" b="1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>
                <a:latin typeface="Times New Roman"/>
                <a:cs typeface="Times New Roman"/>
              </a:rPr>
              <a:t>Project Presentation of Industry-Oriented Hands-On Experience (22CS422)</a:t>
            </a:r>
            <a:endParaRPr lang="en-IN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Learning-Based Early Prediction of Diabetes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a Progressive Model Comparison Approach</a:t>
            </a:r>
          </a:p>
          <a:p>
            <a:pPr algn="ctr">
              <a:spcBef>
                <a:spcPts val="600"/>
              </a:spcBef>
            </a:pPr>
            <a:endParaRPr lang="en-US" sz="20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2000">
                <a:solidFill>
                  <a:srgbClr val="000000"/>
                </a:solidFill>
                <a:latin typeface="Times New Roman"/>
                <a:cs typeface="Times New Roman"/>
              </a:rPr>
              <a:t>Ramandeep Singh - 2210990714</a:t>
            </a:r>
            <a:endParaRPr lang="en-US">
              <a:latin typeface="Times New Roman"/>
              <a:cs typeface="Times New Roman"/>
            </a:endParaRPr>
          </a:p>
          <a:p>
            <a:pPr algn="ctr">
              <a:spcBef>
                <a:spcPts val="400"/>
              </a:spcBef>
            </a:pPr>
            <a:r>
              <a:rPr lang="en-US" sz="2000" dirty="0" err="1">
                <a:solidFill>
                  <a:srgbClr val="000000"/>
                </a:solidFill>
                <a:latin typeface="Times New Roman"/>
                <a:cs typeface="Times New Roman"/>
              </a:rPr>
              <a:t>Raninder</a:t>
            </a:r>
            <a:r>
              <a:rPr lang="en-US" sz="2000" dirty="0">
                <a:solidFill>
                  <a:srgbClr val="000000"/>
                </a:solidFill>
                <a:latin typeface="Times New Roman"/>
                <a:cs typeface="Times New Roman"/>
              </a:rPr>
              <a:t> Singh – 2210990715</a:t>
            </a:r>
          </a:p>
          <a:p>
            <a:pPr algn="ctr">
              <a:spcBef>
                <a:spcPts val="400"/>
              </a:spcBef>
            </a:pPr>
            <a:endParaRPr lang="en-US" sz="2000" b="1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1">
                <a:solidFill>
                  <a:srgbClr val="000000"/>
                </a:solidFill>
                <a:latin typeface="Times New Roman"/>
                <a:cs typeface="Times New Roman"/>
              </a:rPr>
              <a:t>Supervised By</a:t>
            </a:r>
            <a:endParaRPr lang="en-US"/>
          </a:p>
          <a:p>
            <a:pPr algn="ctr">
              <a:spcBef>
                <a:spcPts val="400"/>
              </a:spcBef>
            </a:pPr>
            <a:r>
              <a:rPr lang="en-US" sz="2000">
                <a:latin typeface="Times New Roman"/>
                <a:cs typeface="Times New Roman"/>
              </a:rPr>
              <a:t>Monika Mam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400"/>
              </a:spcBef>
            </a:pPr>
            <a:endParaRPr lang="en-US" sz="2000" dirty="0">
              <a:latin typeface="Times New Roman"/>
              <a:cs typeface="Times New Roman"/>
            </a:endParaRPr>
          </a:p>
          <a:p>
            <a:pPr algn="ctr">
              <a:spcBef>
                <a:spcPts val="400"/>
              </a:spcBef>
            </a:pPr>
            <a:endParaRPr lang="en-US" sz="20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>
                <a:latin typeface="Times New Roman"/>
                <a:cs typeface="Times New Roman"/>
              </a:rPr>
              <a:t>Chitkara University Institute of Engineering and Technology,</a:t>
            </a:r>
            <a:endParaRPr lang="en-US" sz="20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Chitkara University, Punjab, India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533520" y="67919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2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5246778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2900" indent="-342900" algn="just">
              <a:spcBef>
                <a:spcPts val="500"/>
              </a:spcBef>
              <a:buFont typeface="Courier New" panose="05000000000000000000" pitchFamily="2" charset="2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Diabetes is one of the most widespread chronic illnesses globally, significantly challenging modern healthcare systems.</a:t>
            </a:r>
            <a:endParaRPr lang="en-US"/>
          </a:p>
          <a:p>
            <a:pPr algn="just">
              <a:spcBef>
                <a:spcPts val="20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ts val="500"/>
              </a:spcBef>
              <a:buFont typeface="Courier New" panose="05000000000000000000" pitchFamily="2" charset="2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affects the body's ability to maintain balanced blood sugar levels due to inadequate insulin production or usage.</a:t>
            </a:r>
          </a:p>
          <a:p>
            <a:pPr algn="just">
              <a:spcBef>
                <a:spcPts val="20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ts val="500"/>
              </a:spcBef>
              <a:buFont typeface="Courier New" panose="05000000000000000000" pitchFamily="2" charset="2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diagnostic methods are labor-intensive, subjective, and often lead to inconsistent results and delays.</a:t>
            </a:r>
          </a:p>
          <a:p>
            <a:pPr algn="just">
              <a:spcBef>
                <a:spcPts val="20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ts val="500"/>
              </a:spcBef>
              <a:buFont typeface="Courier New" panose="05000000000000000000" pitchFamily="2" charset="2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paper investigates the use of machine learning methods to predict diabetes based on clinical characteristics such as glucose levels, BMI, insulin concentration, and age.</a:t>
            </a:r>
          </a:p>
          <a:p>
            <a:pPr algn="just">
              <a:spcBef>
                <a:spcPts val="20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ts val="500"/>
              </a:spcBef>
              <a:buFont typeface="Courier New" panose="05000000000000000000" pitchFamily="2" charset="2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stepwise progressive model comparison approach is adopted — from simple baseline models to optimized classifiers — to evaluate performance improvement.</a:t>
            </a:r>
          </a:p>
          <a:p>
            <a:pPr algn="just">
              <a:spcBef>
                <a:spcPts val="20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533520" y="67919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3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5246778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2900" indent="-342900" algn="just">
              <a:spcBef>
                <a:spcPts val="500"/>
              </a:spcBef>
              <a:buFont typeface="Courier New" panose="05000000000000000000" pitchFamily="2" charset="2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detection of diabetes is critical to prevent complications such as heart disease, renal failure, nerve damage, and visual impairments.</a:t>
            </a:r>
            <a:endParaRPr lang="en-US"/>
          </a:p>
          <a:p>
            <a:pPr marL="342900" indent="-342900" algn="just">
              <a:spcBef>
                <a:spcPts val="200"/>
              </a:spcBef>
              <a:buFont typeface="Courier New"/>
              <a:buChar char="o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ts val="500"/>
              </a:spcBef>
              <a:buFont typeface="Courier New" panose="05000000000000000000" pitchFamily="2" charset="2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diagnostic approaches involve clinical analysis and professional judgment, which are time-consuming and may yield inconsistent results.</a:t>
            </a:r>
          </a:p>
          <a:p>
            <a:pPr algn="just">
              <a:spcBef>
                <a:spcPts val="20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ts val="500"/>
              </a:spcBef>
              <a:buFont typeface="Courier New" panose="05000000000000000000" pitchFamily="2" charset="2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many countries with limited healthcare infrastructure, early diagnostics remains an unresolved challenge.</a:t>
            </a:r>
          </a:p>
          <a:p>
            <a:pPr algn="just">
              <a:spcBef>
                <a:spcPts val="20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ts val="500"/>
              </a:spcBef>
              <a:buFont typeface="Courier New" panose="05000000000000000000" pitchFamily="2" charset="2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automated, data-driven solution that can accurately predict diabetes risk using structured clinical data.</a:t>
            </a:r>
          </a:p>
          <a:p>
            <a:pPr algn="just">
              <a:spcBef>
                <a:spcPts val="20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ts val="500"/>
              </a:spcBef>
              <a:buFont typeface="Courier New" panose="05000000000000000000" pitchFamily="2" charset="2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 is to design an efficient machine learning pipeline that identifies diabetes early with high accuracy, precision, and minimal prediction error.</a:t>
            </a:r>
          </a:p>
          <a:p>
            <a:pPr algn="just">
              <a:spcBef>
                <a:spcPts val="20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533520" y="67919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4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5246778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2900" indent="-342900" algn="just">
              <a:spcBef>
                <a:spcPts val="500"/>
              </a:spcBef>
              <a:buFont typeface="Courier New" panose="05000000000000000000" pitchFamily="2" charset="2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machine learning-based approach for early prediction of diabetes using structured clinical data.</a:t>
            </a:r>
            <a:endParaRPr lang="en-US"/>
          </a:p>
          <a:p>
            <a:pPr algn="just">
              <a:spcBef>
                <a:spcPts val="20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ts val="500"/>
              </a:spcBef>
              <a:buFont typeface="Courier New" panose="05000000000000000000" pitchFamily="2" charset="2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apply and compare multiple classification algorithms — Logistic Regression, Decision Tree, Random Forest, and optimized KNN — on the Pima Indians Diabetes Dataset.</a:t>
            </a:r>
          </a:p>
          <a:p>
            <a:pPr algn="just">
              <a:spcBef>
                <a:spcPts val="20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ts val="500"/>
              </a:spcBef>
              <a:buFont typeface="Courier New" panose="05000000000000000000" pitchFamily="2" charset="2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adopt a progressive modeling strategy, starting from simple baselines and advancing to more complex models to observe performance improvements.</a:t>
            </a:r>
          </a:p>
          <a:p>
            <a:pPr algn="just">
              <a:spcBef>
                <a:spcPts val="20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ts val="500"/>
              </a:spcBef>
              <a:buFont typeface="Courier New" panose="05000000000000000000" pitchFamily="2" charset="2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all models using standard metrics: Accuracy, Precision, F1-Score, and RMSE.</a:t>
            </a:r>
          </a:p>
          <a:p>
            <a:pPr algn="just">
              <a:spcBef>
                <a:spcPts val="20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ts val="500"/>
              </a:spcBef>
              <a:buFont typeface="Courier New" panose="05000000000000000000" pitchFamily="2" charset="2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the most effective algorithm for diabetes prediction and propose future directions including ensemble and hybrid approaches.</a:t>
            </a:r>
          </a:p>
          <a:p>
            <a:pPr algn="just">
              <a:spcBef>
                <a:spcPts val="20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533520" y="67919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5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5246778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2900" indent="-342900" algn="just">
              <a:spcBef>
                <a:spcPts val="500"/>
              </a:spcBef>
              <a:buFont typeface="Courier New" panose="05000000000000000000" pitchFamily="2" charset="2"/>
              <a:buChar char="o"/>
            </a:pPr>
            <a:r>
              <a:rPr lang="en-US" sz="2000" dirty="0">
                <a:latin typeface="Times New Roman"/>
                <a:cs typeface="Times New Roman"/>
              </a:rPr>
              <a:t>The Pima Indians Diabetes Dataset is among the most widely used benchmarks for diabetes prediction, containing features such as glucose level, BMI, insulin, age, and blood pressure.</a:t>
            </a:r>
            <a:endParaRPr lang="en-US"/>
          </a:p>
          <a:p>
            <a:pPr marL="342900" indent="-342900" algn="just">
              <a:spcBef>
                <a:spcPts val="500"/>
              </a:spcBef>
              <a:buFont typeface="Courier New" panose="05000000000000000000" pitchFamily="2" charset="2"/>
              <a:buChar char="o"/>
            </a:pPr>
            <a:r>
              <a:rPr lang="en-US" sz="2000" dirty="0">
                <a:latin typeface="Times New Roman"/>
                <a:cs typeface="Times New Roman"/>
              </a:rPr>
              <a:t>Early approaches used Logistic Regression and Support Vector Machines for their interpretability; however, they fail to capture complex nonlinear relationships in medical data.</a:t>
            </a:r>
          </a:p>
          <a:p>
            <a:pPr marL="342900" indent="-342900" algn="just">
              <a:spcBef>
                <a:spcPts val="200"/>
              </a:spcBef>
              <a:buFont typeface="Courier New"/>
              <a:buChar char="o"/>
            </a:pPr>
            <a:endParaRPr lang="en-US" sz="2000" dirty="0">
              <a:latin typeface="Times New Roman"/>
              <a:cs typeface="Times New Roman"/>
            </a:endParaRPr>
          </a:p>
          <a:p>
            <a:pPr marL="342900" indent="-342900" algn="just">
              <a:spcBef>
                <a:spcPts val="500"/>
              </a:spcBef>
              <a:buFont typeface="Courier New" panose="05000000000000000000" pitchFamily="2" charset="2"/>
              <a:buChar char="o"/>
            </a:pPr>
            <a:r>
              <a:rPr lang="en-US" sz="2000" dirty="0">
                <a:latin typeface="Times New Roman"/>
                <a:cs typeface="Times New Roman"/>
              </a:rPr>
              <a:t>Random Forest and KNN methods were proposed to improve accuracy, though KNN is sensitive to data scaling and computationally expensive.</a:t>
            </a:r>
            <a:endParaRPr lang="en-US"/>
          </a:p>
          <a:p>
            <a:pPr algn="just">
              <a:spcBef>
                <a:spcPts val="20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ts val="500"/>
              </a:spcBef>
              <a:buFont typeface="Courier New" panose="05000000000000000000" pitchFamily="2" charset="2"/>
              <a:buChar char="o"/>
            </a:pPr>
            <a:r>
              <a:rPr lang="en-US" sz="2000" dirty="0">
                <a:latin typeface="Times New Roman"/>
                <a:cs typeface="Times New Roman"/>
              </a:rPr>
              <a:t>Recent advances focus on ensemble and boosting methods, particularly </a:t>
            </a:r>
            <a:r>
              <a:rPr lang="en-US" sz="2000" err="1">
                <a:latin typeface="Times New Roman"/>
                <a:cs typeface="Times New Roman"/>
              </a:rPr>
              <a:t>XGBoost</a:t>
            </a:r>
            <a:r>
              <a:rPr lang="en-US" sz="2000" dirty="0">
                <a:latin typeface="Times New Roman"/>
                <a:cs typeface="Times New Roman"/>
              </a:rPr>
              <a:t>, which handles missing data, detects complex feature interactions, and limits overfitting through regularization — achieving 85–90% accuracy.</a:t>
            </a:r>
          </a:p>
          <a:p>
            <a:pPr marL="342900" indent="-342900" algn="just">
              <a:spcBef>
                <a:spcPts val="500"/>
              </a:spcBef>
              <a:buFont typeface="Courier New" panose="05000000000000000000" pitchFamily="2" charset="2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literature confirms that model performance depends significantly on preprocessing steps including feature selection, normalization, and handling of class imbalance (e.g., SMOTE).</a:t>
            </a:r>
          </a:p>
          <a:p>
            <a:pPr algn="just">
              <a:spcBef>
                <a:spcPts val="20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533520" y="67919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6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07213" y="1109742"/>
            <a:ext cx="8838720" cy="5246778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2900" indent="-342900" algn="just">
              <a:spcBef>
                <a:spcPts val="500"/>
              </a:spcBef>
              <a:buFont typeface="Courier New" panose="05000000000000000000" pitchFamily="2" charset="2"/>
              <a:buChar char="o"/>
            </a:pPr>
            <a:r>
              <a:rPr lang="en-US" sz="2000" dirty="0">
                <a:latin typeface="Times New Roman"/>
                <a:cs typeface="Times New Roman"/>
              </a:rPr>
              <a:t>Dataset: Pima Indians Diabetes Dataset — contains physiological features </a:t>
            </a:r>
            <a:r>
              <a:rPr lang="en-US" sz="2000">
                <a:latin typeface="Times New Roman"/>
                <a:cs typeface="Times New Roman"/>
              </a:rPr>
              <a:t>including glucose, insulin, BMI, Diabetes Pedigree Function, and age.</a:t>
            </a:r>
            <a:endParaRPr lang="en-US">
              <a:latin typeface="Times New Roman"/>
              <a:cs typeface="Times New Roman"/>
            </a:endParaRPr>
          </a:p>
          <a:p>
            <a:pPr marL="342900" indent="-342900" algn="just">
              <a:spcBef>
                <a:spcPts val="500"/>
              </a:spcBef>
              <a:buFont typeface="Courier New" panose="05000000000000000000" pitchFamily="2" charset="2"/>
              <a:buChar char="o"/>
            </a:pPr>
            <a:r>
              <a:rPr lang="en-US" sz="2000" dirty="0">
                <a:latin typeface="Times New Roman"/>
                <a:cs typeface="Times New Roman"/>
              </a:rPr>
              <a:t>Preprocessing: Zero values treated as missing data and imputed; unimportant features (Skin Thickness, Blood Pressure) removed; feature scaling applied via </a:t>
            </a:r>
            <a:r>
              <a:rPr lang="en-US" sz="2000">
                <a:latin typeface="Times New Roman"/>
                <a:cs typeface="Times New Roman"/>
              </a:rPr>
              <a:t>normalization/standardization.</a:t>
            </a:r>
          </a:p>
          <a:p>
            <a:pPr marL="342900" indent="-342900" algn="just">
              <a:spcBef>
                <a:spcPts val="500"/>
              </a:spcBef>
              <a:buFont typeface="Courier New" panose="05000000000000000000" pitchFamily="2" charset="2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Split: 80:20 train-test split with a fixed random state to ensure reproducibility.</a:t>
            </a:r>
          </a:p>
          <a:p>
            <a:pPr algn="just">
              <a:spcBef>
                <a:spcPts val="20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ts val="500"/>
              </a:spcBef>
              <a:buFont typeface="Courier New" panose="05000000000000000000" pitchFamily="2" charset="2"/>
              <a:buChar char="o"/>
            </a:pPr>
            <a:r>
              <a:rPr lang="en-US" sz="2000" dirty="0">
                <a:latin typeface="Times New Roman"/>
                <a:cs typeface="Times New Roman"/>
              </a:rPr>
              <a:t>Progressive Modeling: Logistic Regression (baseline) → Decision Tree (nonlinear) → Random Forest (ensemble) → Optimized KNN (elbow method for </a:t>
            </a:r>
            <a:r>
              <a:rPr lang="en-US" sz="2000">
                <a:latin typeface="Times New Roman"/>
                <a:cs typeface="Times New Roman"/>
              </a:rPr>
              <a:t>k selection).</a:t>
            </a:r>
          </a:p>
          <a:p>
            <a:pPr marL="342900" indent="-342900" algn="just">
              <a:spcBef>
                <a:spcPts val="500"/>
              </a:spcBef>
              <a:buFont typeface="Courier New" panose="05000000000000000000" pitchFamily="2" charset="2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Metrics: Accuracy, Precision, F1-Score, RMSE used across all models for fair comparison.</a:t>
            </a:r>
          </a:p>
          <a:p>
            <a:pPr algn="just">
              <a:spcBef>
                <a:spcPts val="20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ts val="500"/>
              </a:spcBef>
              <a:buFont typeface="Courier New" panose="05000000000000000000" pitchFamily="2" charset="2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Pipeline: Data Acquisition → Preprocessing → Feature Selection → Splitting → Training → Hyperparameter Tuning → Evaluation → Comparison.</a:t>
            </a:r>
          </a:p>
          <a:p>
            <a:pPr algn="just">
              <a:spcBef>
                <a:spcPts val="20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533520" y="67919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Implemented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7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5246778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2900" indent="-342900" algn="just">
              <a:spcBef>
                <a:spcPts val="500"/>
              </a:spcBef>
              <a:buFont typeface="Courier New" panose="05000000000000000000" pitchFamily="2" charset="2"/>
              <a:buChar char="o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Logistic Regression —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Serves as the baseline model. Estimates class probabilities but assumes linear decision boundaries, limiting its ability to capture complex interactions between features.</a:t>
            </a:r>
            <a:endParaRPr lang="en-US"/>
          </a:p>
          <a:p>
            <a:pPr algn="just">
              <a:spcBef>
                <a:spcPts val="20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ts val="500"/>
              </a:spcBef>
              <a:buFont typeface="Courier New" panose="05000000000000000000" pitchFamily="2" charset="2"/>
              <a:buChar char="o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Decision Tree —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Introduces nonlinearity to model relationships between medical variables. Prone to overfitting; regularized via depth control to improve generalization.</a:t>
            </a:r>
          </a:p>
          <a:p>
            <a:pPr algn="just">
              <a:spcBef>
                <a:spcPts val="20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ts val="500"/>
              </a:spcBef>
              <a:buFont typeface="Courier New" panose="05000000000000000000" pitchFamily="2" charset="2"/>
              <a:buChar char="o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Random Forest —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Ensemble of multiple decision trees; reduces overfitting and improves robustness. Achieved 77.27% Accuracy and 0.7368 Precision.</a:t>
            </a:r>
          </a:p>
          <a:p>
            <a:pPr algn="just">
              <a:spcBef>
                <a:spcPts val="20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ts val="500"/>
              </a:spcBef>
              <a:buFont typeface="Courier New" panose="05000000000000000000" pitchFamily="2" charset="2"/>
              <a:buChar char="o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Optimized KNN —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Distance-based classifier; best k selected using the elbow method. After feature scaling and tuning, achieved the highest performance: 79.87% Accuracy and 0.8437 Precision.</a:t>
            </a:r>
          </a:p>
          <a:p>
            <a:pPr algn="just">
              <a:spcBef>
                <a:spcPts val="20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533520" y="67919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8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5246778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2900" indent="-342900" algn="just">
              <a:spcBef>
                <a:spcPts val="500"/>
              </a:spcBef>
              <a:buFont typeface="Courier New" panose="05000000000000000000" pitchFamily="2" charset="2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provided a stable but limited baseline, unable to capture nonlinear relationships between predictors such as glucose, BMI, and insulin.</a:t>
            </a:r>
            <a:endParaRPr lang="en-US"/>
          </a:p>
          <a:p>
            <a:pPr algn="just">
              <a:spcBef>
                <a:spcPts val="20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ts val="500"/>
              </a:spcBef>
              <a:buFont typeface="Courier New" panose="05000000000000000000" pitchFamily="2" charset="2"/>
              <a:buChar char="o"/>
            </a:pPr>
            <a:r>
              <a:rPr lang="en-US" sz="2000" dirty="0">
                <a:latin typeface="Times New Roman"/>
                <a:cs typeface="Times New Roman"/>
              </a:rPr>
              <a:t>Decision Tree improved nonlinear modeling but suffered from overfitting and </a:t>
            </a:r>
            <a:r>
              <a:rPr lang="en-US" sz="2000">
                <a:latin typeface="Times New Roman"/>
                <a:cs typeface="Times New Roman"/>
              </a:rPr>
              <a:t>poor generalization on unseen data.</a:t>
            </a:r>
          </a:p>
          <a:p>
            <a:pPr marL="342900" indent="-342900" algn="just">
              <a:spcBef>
                <a:spcPts val="500"/>
              </a:spcBef>
              <a:buFont typeface="Courier New" panose="05000000000000000000" pitchFamily="2" charset="2"/>
              <a:buChar char="o"/>
            </a:pPr>
            <a:r>
              <a:rPr lang="en-US" sz="2000" dirty="0">
                <a:latin typeface="Times New Roman"/>
                <a:cs typeface="Times New Roman"/>
              </a:rPr>
              <a:t>Random Forest significantly improved stability: Accuracy 77.27%, Precision 0.7368, F1-Score 0.6153, RMSE ~0.47–0.52.</a:t>
            </a:r>
          </a:p>
          <a:p>
            <a:pPr algn="just">
              <a:spcBef>
                <a:spcPts val="20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ts val="500"/>
              </a:spcBef>
              <a:buFont typeface="Courier New" panose="05000000000000000000" pitchFamily="2" charset="2"/>
              <a:buChar char="o"/>
            </a:pPr>
            <a:r>
              <a:rPr lang="en-US" sz="2000" dirty="0">
                <a:latin typeface="Times New Roman"/>
                <a:cs typeface="Times New Roman"/>
              </a:rPr>
              <a:t>Optimized KNN (best performer): Accuracy 79.87%, Precision 0.8437, F1-Score </a:t>
            </a:r>
            <a:r>
              <a:rPr lang="en-US" sz="2000">
                <a:latin typeface="Times New Roman"/>
                <a:cs typeface="Times New Roman"/>
              </a:rPr>
              <a:t>0.6353, RMSE ~0.45–0.50.</a:t>
            </a:r>
          </a:p>
          <a:p>
            <a:pPr marL="342900" indent="-342900" algn="just">
              <a:spcBef>
                <a:spcPts val="500"/>
              </a:spcBef>
              <a:buFont typeface="Courier New" panose="05000000000000000000" pitchFamily="2" charset="2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KNN's superior performance is attributed to its effectiveness in recognizing local data patterns after appropriate feature scaling and hyperparameter tuning.</a:t>
            </a:r>
          </a:p>
          <a:p>
            <a:pPr algn="just">
              <a:spcBef>
                <a:spcPts val="20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ts val="500"/>
              </a:spcBef>
              <a:buFont typeface="Courier New" panose="05000000000000000000" pitchFamily="2" charset="2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Progressive improvement confirmed: Baseline → Decision Tree → Random Forest → Optimized KNN, with each step yielding measurable gains in predictive accuracy.</a:t>
            </a:r>
          </a:p>
          <a:p>
            <a:pPr algn="just">
              <a:spcBef>
                <a:spcPts val="20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533520" y="67919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9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5246778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2900" indent="-342900" algn="just">
              <a:spcBef>
                <a:spcPts val="500"/>
              </a:spcBef>
              <a:buFont typeface="Courier New" panose="05000000000000000000" pitchFamily="2" charset="2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machine learning-based approach was proposed and evaluated for early prediction of diabetes using the Pima Indians Diabetes Dataset.</a:t>
            </a:r>
            <a:endParaRPr lang="en-US" dirty="0"/>
          </a:p>
          <a:p>
            <a:pPr algn="just">
              <a:spcBef>
                <a:spcPts val="20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ts val="500"/>
              </a:spcBef>
              <a:buFont typeface="Courier New" panose="05000000000000000000" pitchFamily="2" charset="2"/>
              <a:buChar char="o"/>
            </a:pPr>
            <a:r>
              <a:rPr lang="en-US" sz="2000" dirty="0">
                <a:latin typeface="Times New Roman"/>
                <a:cs typeface="Times New Roman"/>
              </a:rPr>
              <a:t>A systematic progressive modeling strategy demonstrated consistent performance improvement from baseline to optimized models.</a:t>
            </a:r>
          </a:p>
          <a:p>
            <a:pPr marL="342900" indent="-342900" algn="just">
              <a:spcBef>
                <a:spcPts val="500"/>
              </a:spcBef>
              <a:buFont typeface="Courier New" panose="05000000000000000000" pitchFamily="2" charset="2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and Decision Tree provided moderate accuracy but were limited in capturing complex data relationships; Decision Tree also suffered from overfitting.</a:t>
            </a:r>
          </a:p>
          <a:p>
            <a:pPr algn="just">
              <a:spcBef>
                <a:spcPts val="20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ts val="500"/>
              </a:spcBef>
              <a:buFont typeface="Courier New" panose="05000000000000000000" pitchFamily="2" charset="2"/>
              <a:buChar char="o"/>
            </a:pPr>
            <a:r>
              <a:rPr lang="en-US" sz="2000" dirty="0">
                <a:latin typeface="Times New Roman"/>
                <a:cs typeface="Times New Roman"/>
              </a:rPr>
              <a:t>Random Forest enhanced stability and predictive performance through ensemble learning.</a:t>
            </a:r>
          </a:p>
          <a:p>
            <a:pPr marL="342900" indent="-342900" algn="just">
              <a:spcBef>
                <a:spcPts val="500"/>
              </a:spcBef>
              <a:buFont typeface="Courier New" panose="05000000000000000000" pitchFamily="2" charset="2"/>
              <a:buChar char="o"/>
            </a:pPr>
            <a:r>
              <a:rPr lang="en-US" sz="2000" dirty="0">
                <a:latin typeface="Times New Roman"/>
                <a:cs typeface="Times New Roman"/>
              </a:rPr>
              <a:t>Optimized KNN achieved the best results among all models tested, demonstrating the value of feature scaling and hyperparameter tuning.</a:t>
            </a:r>
          </a:p>
          <a:p>
            <a:pPr marL="342900" indent="-342900" algn="just">
              <a:spcBef>
                <a:spcPts val="500"/>
              </a:spcBef>
              <a:buFont typeface="Courier New" panose="05000000000000000000" pitchFamily="2" charset="2"/>
              <a:buChar char="o"/>
            </a:pPr>
            <a:r>
              <a:rPr lang="en-US" sz="2000" dirty="0">
                <a:latin typeface="Times New Roman"/>
                <a:cs typeface="Times New Roman"/>
              </a:rPr>
              <a:t>Future work should explore </a:t>
            </a:r>
            <a:r>
              <a:rPr lang="en-US" sz="2000" dirty="0" err="1">
                <a:latin typeface="Times New Roman"/>
                <a:cs typeface="Times New Roman"/>
              </a:rPr>
              <a:t>XGBoost</a:t>
            </a:r>
            <a:r>
              <a:rPr lang="en-US" sz="2000" dirty="0">
                <a:latin typeface="Times New Roman"/>
                <a:cs typeface="Times New Roman"/>
              </a:rPr>
              <a:t>, deep learning/hybrid techniques, and integration of real-time patient data to further improve prediction accuracy and clinical applicability.</a:t>
            </a:r>
          </a:p>
          <a:p>
            <a:pPr algn="just">
              <a:spcBef>
                <a:spcPts val="20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64008" y="82620"/>
            <a:ext cx="6580512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Conference Submission Proof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10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5246778"/>
          </a:xfrm>
          <a:prstGeom prst="rect">
            <a:avLst/>
          </a:prstGeom>
          <a:noFill/>
          <a:ln w="936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spcBef>
                <a:spcPts val="500"/>
              </a:spcBef>
              <a:spcAft>
                <a:spcPts val="500"/>
              </a:spcAft>
            </a:pPr>
            <a:endParaRPr lang="en-US" dirty="0"/>
          </a:p>
          <a:p>
            <a:pPr algn="l">
              <a:spcAft>
                <a:spcPts val="500"/>
              </a:spcAft>
            </a:pPr>
            <a:r>
              <a:rPr sz="2000" b="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Conference: 7th International Conference on Data Science and Applications (7ICDSA 2026)</a:t>
            </a:r>
          </a:p>
          <a:p>
            <a:pPr algn="l">
              <a:spcAft>
                <a:spcPts val="500"/>
              </a:spcAft>
            </a:pPr>
            <a:r>
              <a:rPr sz="2000" b="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Paper ID: 2483</a:t>
            </a:r>
          </a:p>
          <a:p>
            <a:pPr algn="l">
              <a:spcAft>
                <a:spcPts val="500"/>
              </a:spcAft>
            </a:pPr>
            <a:r>
              <a:rPr sz="2000" b="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Paper Title: Machine Learning-Based Early Prediction of Diabetes Using a Progressive Model Comparison Approach</a:t>
            </a:r>
          </a:p>
          <a:p>
            <a:pPr algn="l">
              <a:spcAft>
                <a:spcPts val="500"/>
              </a:spcAft>
            </a:pPr>
            <a:r>
              <a:rPr sz="2000" b="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Authors: </a:t>
            </a:r>
            <a:r>
              <a:rPr sz="2000" b="0" dirty="0" err="1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Raninder</a:t>
            </a:r>
            <a:r>
              <a:rPr sz="2000" b="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Singh &amp; Ramandeep Singh — Chitkara University</a:t>
            </a:r>
          </a:p>
          <a:p>
            <a:pPr algn="l">
              <a:spcAft>
                <a:spcPts val="500"/>
              </a:spcAft>
            </a:pPr>
            <a:r>
              <a:rPr sz="2000" b="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 On: May 14, 2026  |  Subject Area: Data Science Applications</a:t>
            </a:r>
          </a:p>
          <a:p>
            <a:pPr algn="l">
              <a:spcAft>
                <a:spcPts val="400"/>
              </a:spcAft>
            </a:pPr>
            <a:endParaRPr sz="2000" b="0" dirty="0">
              <a:solidFill>
                <a:srgbClr val="1A1A1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500"/>
              </a:spcAft>
            </a:pPr>
            <a:r>
              <a:rPr sz="2000" b="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All declarations accepted: No conflict of interest, originality certified, no AI-generated content</a:t>
            </a:r>
          </a:p>
          <a:p>
            <a:pPr algn="l">
              <a:spcAft>
                <a:spcPts val="500"/>
              </a:spcAft>
            </a:pPr>
            <a:r>
              <a:rPr sz="2000" b="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Submission file: research-paper-final.docx (137.8 KB)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433604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11</a:t>
            </a:fld>
            <a:endParaRPr lang="en-GB" sz="12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34792</TotalTime>
  <Words>1122</Words>
  <Application>Microsoft Office PowerPoint</Application>
  <PresentationFormat>On-screen Show (4:3)</PresentationFormat>
  <Paragraphs>112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Ramandeep Singh</cp:lastModifiedBy>
  <cp:revision>2336</cp:revision>
  <dcterms:created xsi:type="dcterms:W3CDTF">2010-04-09T07:36:15Z</dcterms:created>
  <dcterms:modified xsi:type="dcterms:W3CDTF">2026-05-14T06:30:47Z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